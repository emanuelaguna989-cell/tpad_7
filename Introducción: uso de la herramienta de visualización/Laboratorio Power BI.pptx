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6FF4A344-BACC-4AA5-8E7D-02FB9A59B725}" type="datetimeFigureOut">
              <a:rPr lang="es-CO" smtClean="0"/>
              <a:t>6/08/2026</a:t>
            </a:fld>
            <a:endParaRPr lang="es-CO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299D2E1-1926-4D5A-B98D-6C183B3C10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573936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4A344-BACC-4AA5-8E7D-02FB9A59B725}" type="datetimeFigureOut">
              <a:rPr lang="es-CO" smtClean="0"/>
              <a:t>6/08/2026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9D2E1-1926-4D5A-B98D-6C183B3C10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4354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FF4A344-BACC-4AA5-8E7D-02FB9A59B725}" type="datetimeFigureOut">
              <a:rPr lang="es-CO" smtClean="0"/>
              <a:t>6/08/2026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7299D2E1-1926-4D5A-B98D-6C183B3C10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235160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4A344-BACC-4AA5-8E7D-02FB9A59B725}" type="datetimeFigureOut">
              <a:rPr lang="es-CO" smtClean="0"/>
              <a:t>6/08/2026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9D2E1-1926-4D5A-B98D-6C183B3C10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0579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4A344-BACC-4AA5-8E7D-02FB9A59B725}" type="datetimeFigureOut">
              <a:rPr lang="es-CO" smtClean="0"/>
              <a:t>6/08/2026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9D2E1-1926-4D5A-B98D-6C183B3C10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906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4A344-BACC-4AA5-8E7D-02FB9A59B725}" type="datetimeFigureOut">
              <a:rPr lang="es-CO" smtClean="0"/>
              <a:t>6/08/2026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9D2E1-1926-4D5A-B98D-6C183B3C10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5110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4A344-BACC-4AA5-8E7D-02FB9A59B725}" type="datetimeFigureOut">
              <a:rPr lang="es-CO" smtClean="0"/>
              <a:t>6/08/2026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9D2E1-1926-4D5A-B98D-6C183B3C10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4095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4A344-BACC-4AA5-8E7D-02FB9A59B725}" type="datetimeFigureOut">
              <a:rPr lang="es-CO" smtClean="0"/>
              <a:t>6/08/2026</a:t>
            </a:fld>
            <a:endParaRPr lang="es-C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s-CO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299D2E1-1926-4D5A-B98D-6C183B3C10EE}" type="slidenum">
              <a:rPr lang="es-CO" smtClean="0"/>
              <a:t>‹Nº›</a:t>
            </a:fld>
            <a:endParaRPr lang="es-CO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2104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6FF4A344-BACC-4AA5-8E7D-02FB9A59B725}" type="datetimeFigureOut">
              <a:rPr lang="es-CO" smtClean="0"/>
              <a:t>6/08/2026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299D2E1-1926-4D5A-B98D-6C183B3C10EE}" type="slidenum">
              <a:rPr lang="es-CO" smtClean="0"/>
              <a:t>‹Nº›</a:t>
            </a:fld>
            <a:endParaRPr lang="es-CO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265163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4A344-BACC-4AA5-8E7D-02FB9A59B725}" type="datetimeFigureOut">
              <a:rPr lang="es-CO" smtClean="0"/>
              <a:t>6/08/2026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9D2E1-1926-4D5A-B98D-6C183B3C10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715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4A344-BACC-4AA5-8E7D-02FB9A59B725}" type="datetimeFigureOut">
              <a:rPr lang="es-CO" smtClean="0"/>
              <a:t>6/08/2026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99D2E1-1926-4D5A-B98D-6C183B3C10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183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FF4A344-BACC-4AA5-8E7D-02FB9A59B725}" type="datetimeFigureOut">
              <a:rPr lang="es-CO" smtClean="0"/>
              <a:t>6/08/2026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7299D2E1-1926-4D5A-B98D-6C183B3C10E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530268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trellis">
          <a:fgClr>
            <a:schemeClr val="accent1">
              <a:lumMod val="60000"/>
              <a:lumOff val="40000"/>
            </a:schemeClr>
          </a:fgClr>
          <a:bgClr>
            <a:schemeClr val="accent3">
              <a:lumMod val="60000"/>
              <a:lumOff val="4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Laboratorio</a:t>
            </a:r>
            <a:endParaRPr lang="es-CO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CO" dirty="0" smtClean="0"/>
              <a:t>POWER BI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476346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b="1" i="1" dirty="0" smtClean="0"/>
              <a:t>¿Qué se hace con Power BI?</a:t>
            </a:r>
            <a:endParaRPr lang="es-CO" b="1" i="1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MX" dirty="0"/>
              <a:t>Unificar datos de cientos de fuentes (Excel, SQL, Web, etc.), crear relaciones lógicas entre tablas para que trabajen como un único conjunto de datos, diseñar gráficos e informes interactivos y altamente dinámicos, publicar reportes de manera segura para la toma de decisiones en tiempo real.</a:t>
            </a:r>
            <a:endParaRPr lang="es-CO" dirty="0"/>
          </a:p>
          <a:p>
            <a:endParaRPr lang="es-CO" dirty="0"/>
          </a:p>
        </p:txBody>
      </p:sp>
      <p:pic>
        <p:nvPicPr>
          <p:cNvPr id="2050" name="Picture 2" descr="Logo poder bi oficina - Icono gratis PNG, SV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3875" y="2103438"/>
            <a:ext cx="3748087" cy="37480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231694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17072" y="703263"/>
            <a:ext cx="9487949" cy="1371600"/>
          </a:xfrm>
        </p:spPr>
        <p:txBody>
          <a:bodyPr>
            <a:normAutofit fontScale="90000"/>
          </a:bodyPr>
          <a:lstStyle/>
          <a:p>
            <a:pPr algn="ctr"/>
            <a:r>
              <a:rPr lang="es-MX" sz="3600" b="1" i="1" dirty="0"/>
              <a:t>¿En qué vista de Power BI puedes gestionar las relaciones y llaves de las tablas agregadas al</a:t>
            </a:r>
            <a:br>
              <a:rPr lang="es-MX" sz="3600" b="1" i="1" dirty="0"/>
            </a:br>
            <a:r>
              <a:rPr lang="es-MX" sz="3600" b="1" i="1" dirty="0"/>
              <a:t>modelo de datos?</a:t>
            </a:r>
            <a:r>
              <a:rPr lang="es-CO" dirty="0"/>
              <a:t/>
            </a:r>
            <a:br>
              <a:rPr lang="es-CO" dirty="0"/>
            </a:br>
            <a:endParaRPr lang="es-CO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Se gestionan en la </a:t>
            </a:r>
            <a:r>
              <a:rPr lang="es-MX" b="1" dirty="0"/>
              <a:t>Vista de Modelo</a:t>
            </a:r>
            <a:r>
              <a:rPr lang="es-MX" dirty="0"/>
              <a:t> (representada por el icono de tres tablas conectadas en la barra lateral izquierda). Aquí se definen las llaves primarias/foráneas y la cardinalidad de las relaciones.</a:t>
            </a:r>
            <a:endParaRPr lang="es-CO" dirty="0"/>
          </a:p>
        </p:txBody>
      </p:sp>
      <p:sp>
        <p:nvSpPr>
          <p:cNvPr id="9" name="Marcador de texto 8"/>
          <p:cNvSpPr>
            <a:spLocks noGrp="1"/>
          </p:cNvSpPr>
          <p:nvPr>
            <p:ph type="body" idx="4294967295"/>
          </p:nvPr>
        </p:nvSpPr>
        <p:spPr>
          <a:xfrm>
            <a:off x="687898" y="5852160"/>
            <a:ext cx="4754563" cy="639762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CO" dirty="0"/>
          </a:p>
        </p:txBody>
      </p:sp>
      <p:sp>
        <p:nvSpPr>
          <p:cNvPr id="13" name="Marcador de texto 12"/>
          <p:cNvSpPr>
            <a:spLocks noGrp="1"/>
          </p:cNvSpPr>
          <p:nvPr>
            <p:ph type="body" sz="quarter" idx="4294967295"/>
          </p:nvPr>
        </p:nvSpPr>
        <p:spPr>
          <a:xfrm>
            <a:off x="8049835" y="6051244"/>
            <a:ext cx="4754562" cy="639762"/>
          </a:xfrm>
        </p:spPr>
        <p:txBody>
          <a:bodyPr/>
          <a:lstStyle/>
          <a:p>
            <a:endParaRPr lang="es-CO" dirty="0"/>
          </a:p>
        </p:txBody>
      </p:sp>
      <p:pic>
        <p:nvPicPr>
          <p:cNvPr id="7" name="Marcador de contenido 6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582" y="2074863"/>
            <a:ext cx="4924618" cy="36034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387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O" sz="2000" b="1" i="1" dirty="0" smtClean="0"/>
              <a:t>¿Cuál es el icono para la extracción de datos según el tipo de origen de los datos?</a:t>
            </a:r>
            <a:endParaRPr lang="es-CO" sz="2000" b="1" i="1" dirty="0"/>
          </a:p>
        </p:txBody>
      </p:sp>
      <p:pic>
        <p:nvPicPr>
          <p:cNvPr id="7" name="Marcador de posición de imagen 6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327" y="2843868"/>
            <a:ext cx="6285451" cy="35667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Marcador de texto 5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s-MX" dirty="0"/>
              <a:t>Es el botón </a:t>
            </a:r>
            <a:r>
              <a:rPr lang="es-MX" b="1" dirty="0"/>
              <a:t>Obtener datos</a:t>
            </a:r>
            <a:r>
              <a:rPr lang="es-MX" dirty="0"/>
              <a:t> (Get Data), representado por un icono de un cilindro de base de datos (color gris/azul) con una flecha verde o un conjunto de accesos directos rápidos (Excel, SQL, etc.) en la sección de "Datos".</a:t>
            </a:r>
            <a:endParaRPr lang="es-CO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865" y="607392"/>
            <a:ext cx="3372374" cy="21140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7619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1400" b="1" i="1" dirty="0" smtClean="0"/>
              <a:t>Describe </a:t>
            </a:r>
            <a:r>
              <a:rPr lang="es-MX" sz="1400" b="1" i="1" dirty="0"/>
              <a:t>el funcionamiento de power query, identificarlo en el panel principal cual es el</a:t>
            </a:r>
            <a:br>
              <a:rPr lang="es-MX" sz="1400" b="1" i="1" dirty="0"/>
            </a:br>
            <a:r>
              <a:rPr lang="es-MX" sz="1400" b="1" i="1" dirty="0"/>
              <a:t>icono, representarlo con una captura de </a:t>
            </a:r>
            <a:r>
              <a:rPr lang="es-MX" sz="1400" b="1" i="1" dirty="0" smtClean="0"/>
              <a:t>pantalla</a:t>
            </a:r>
            <a:endParaRPr lang="es-CO" sz="1400" i="1" dirty="0"/>
          </a:p>
        </p:txBody>
      </p:sp>
      <p:sp>
        <p:nvSpPr>
          <p:cNvPr id="6" name="Marcador de texto 5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/>
          </a:bodyPr>
          <a:lstStyle/>
          <a:p>
            <a:r>
              <a:rPr lang="es-MX" dirty="0"/>
              <a:t>Permite limpiar datos nulos, eliminar filas/columnas repetidas, cambiar tipos de datos (de texto a número), combinar tablas y crear columnas calculadas antes de cargarlas al modelo definitivo. El botón se llama </a:t>
            </a:r>
            <a:r>
              <a:rPr lang="es-MX" b="1" dirty="0"/>
              <a:t>Transformar datos</a:t>
            </a:r>
            <a:r>
              <a:rPr lang="es-MX" dirty="0"/>
              <a:t> (Transform Data). Su icono característico consta de una pequeña tabla con un engranaje amarillo o un lápiz/pincel de edición.</a:t>
            </a:r>
            <a:endParaRPr lang="es-MX" dirty="0" smtClean="0"/>
          </a:p>
          <a:p>
            <a:endParaRPr lang="es-CO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56" y="2286000"/>
            <a:ext cx="7772400" cy="40380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56" y="970187"/>
            <a:ext cx="7772400" cy="9203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2013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1400" b="1" i="1" dirty="0"/>
              <a:t>En el Modelado, describir el funcionamiento y luego represéntalo con la captura de</a:t>
            </a:r>
            <a:br>
              <a:rPr lang="es-MX" sz="1400" b="1" i="1" dirty="0"/>
            </a:br>
            <a:r>
              <a:rPr lang="es-MX" sz="1400" b="1" i="1" dirty="0"/>
              <a:t>pantalla del </a:t>
            </a:r>
            <a:r>
              <a:rPr lang="es-MX" sz="1400" b="1" i="1" dirty="0" smtClean="0"/>
              <a:t>icono</a:t>
            </a:r>
            <a:endParaRPr lang="es-CO" sz="1400" i="1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/>
        <p:txBody>
          <a:bodyPr>
            <a:noAutofit/>
          </a:bodyPr>
          <a:lstStyle/>
          <a:p>
            <a:r>
              <a:rPr lang="es-MX" sz="1100" dirty="0" smtClean="0"/>
              <a:t>Se encuentra en </a:t>
            </a:r>
            <a:r>
              <a:rPr lang="es-MX" sz="1100" dirty="0"/>
              <a:t>la </a:t>
            </a:r>
            <a:r>
              <a:rPr lang="es-MX" sz="1100" b="1" dirty="0"/>
              <a:t>cinta de opciones superior</a:t>
            </a:r>
            <a:r>
              <a:rPr lang="es-MX" sz="1100" dirty="0"/>
              <a:t>, justo entre las pestañas </a:t>
            </a:r>
            <a:r>
              <a:rPr lang="es-MX" sz="1100" dirty="0" smtClean="0"/>
              <a:t>insertar y ver. </a:t>
            </a:r>
            <a:r>
              <a:rPr lang="es-MX" sz="1100" dirty="0"/>
              <a:t>E</a:t>
            </a:r>
            <a:r>
              <a:rPr lang="es-MX" sz="1100" dirty="0" smtClean="0"/>
              <a:t>l modelado permite estructurar </a:t>
            </a:r>
            <a:r>
              <a:rPr lang="es-MX" sz="1100" dirty="0"/>
              <a:t>y dar inteligencia al conjunto de datos mediante la creación de relaciones lógicas entre tablas para que los filtros fluyan de forma automática en los reportes, la programación de cálculos y métricas complejas en tiempo real utilizando fórmulas DAX, la aplicación de filtros de seguridad a nivel de fila (RLS) para controlar el acceso confidencial a la información según el rol de cada usuario, y la creación de parámetros interactivos que permiten simular escenarios hipotéticos al instante.</a:t>
            </a:r>
            <a:endParaRPr lang="es-CO" sz="1100" dirty="0"/>
          </a:p>
        </p:txBody>
      </p:sp>
      <p:pic>
        <p:nvPicPr>
          <p:cNvPr id="8" name="Marcador de contenido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21" y="2253312"/>
            <a:ext cx="7772400" cy="8800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21" y="3613207"/>
            <a:ext cx="7772400" cy="8507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82096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409</TotalTime>
  <Words>378</Words>
  <Application>Microsoft Office PowerPoint</Application>
  <PresentationFormat>Panorámica</PresentationFormat>
  <Paragraphs>12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9" baseType="lpstr">
      <vt:lpstr>Century Gothic</vt:lpstr>
      <vt:lpstr>Garamond</vt:lpstr>
      <vt:lpstr>Savon</vt:lpstr>
      <vt:lpstr>Laboratorio</vt:lpstr>
      <vt:lpstr>¿Qué se hace con Power BI?</vt:lpstr>
      <vt:lpstr>¿En qué vista de Power BI puedes gestionar las relaciones y llaves de las tablas agregadas al modelo de datos? </vt:lpstr>
      <vt:lpstr>¿Cuál es el icono para la extracción de datos según el tipo de origen de los datos?</vt:lpstr>
      <vt:lpstr>Describe el funcionamiento de power query, identificarlo en el panel principal cual es el icono, representarlo con una captura de pantalla</vt:lpstr>
      <vt:lpstr>En el Modelado, describir el funcionamiento y luego represéntalo con la captura de pantalla del icono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Laboratorio: power bi</dc:title>
  <dc:creator>SENA</dc:creator>
  <cp:lastModifiedBy>SENA</cp:lastModifiedBy>
  <cp:revision>16</cp:revision>
  <dcterms:created xsi:type="dcterms:W3CDTF">2026-07-15T12:32:55Z</dcterms:created>
  <dcterms:modified xsi:type="dcterms:W3CDTF">2026-08-06T16:51:00Z</dcterms:modified>
</cp:coreProperties>
</file>